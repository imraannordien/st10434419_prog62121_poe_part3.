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17694-3AB9-7D4E-27EF-82C20529A259}" v="901" dt="2025-11-21T20:06:45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98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32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89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1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4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1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69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6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279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656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107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4405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85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32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094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81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99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200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Contract Monthly Claim System (Final POE – Part 3)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55308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Developed by: </a:t>
            </a:r>
            <a:r>
              <a:rPr lang="en-US" i="1" dirty="0">
                <a:ea typeface="+mn-lt"/>
                <a:cs typeface="+mn-lt"/>
              </a:rPr>
              <a:t>Imraan </a:t>
            </a:r>
            <a:r>
              <a:rPr lang="en-US" i="1" dirty="0" err="1">
                <a:ea typeface="+mn-lt"/>
                <a:cs typeface="+mn-lt"/>
              </a:rPr>
              <a:t>Nordien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 Student No: St1034419 </a:t>
            </a:r>
            <a:endParaRPr lang="en-US" dirty="0">
              <a:ea typeface="+mn-lt"/>
              <a:cs typeface="+mn-lt"/>
            </a:endParaRPr>
          </a:p>
          <a:p>
            <a:r>
              <a:rPr lang="en-US" i="1" dirty="0">
                <a:ea typeface="+mn-lt"/>
                <a:cs typeface="+mn-lt"/>
              </a:rPr>
              <a:t>Course: PROG6212</a:t>
            </a:r>
            <a:endParaRPr lang="en-US" dirty="0">
              <a:ea typeface="+mn-lt"/>
              <a:cs typeface="+mn-lt"/>
            </a:endParaRPr>
          </a:p>
          <a:p>
            <a:r>
              <a:rPr lang="en-US" i="1" dirty="0">
                <a:ea typeface="+mn-lt"/>
                <a:cs typeface="+mn-lt"/>
              </a:rPr>
              <a:t> Institution: Varsity College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 Date: 21 November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17A07-2E51-E06A-17AE-3D9C8D289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Project Overview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0585523-245D-7205-E852-483F6F94B8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2704557"/>
              </p:ext>
            </p:extLst>
          </p:nvPr>
        </p:nvGraphicFramePr>
        <p:xfrm>
          <a:off x="1103313" y="2052638"/>
          <a:ext cx="8947150" cy="366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3473769171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1912967753"/>
                    </a:ext>
                  </a:extLst>
                </a:gridCol>
              </a:tblGrid>
              <a:tr h="366309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u="sng" strike="noStrike" baseline="0" noProof="0" dirty="0">
                          <a:solidFill>
                            <a:srgbClr val="FFFFFF"/>
                          </a:solidFill>
                          <a:latin typeface="Century Gothic"/>
                        </a:rPr>
                        <a:t>Purpose:</a:t>
                      </a:r>
                      <a:endParaRPr lang="en-US" sz="2000" b="0" u="sng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2000" b="0" i="0" u="none" strike="noStrike" baseline="0" noProof="0" dirty="0">
                        <a:solidFill>
                          <a:srgbClr val="FFFFFF"/>
                        </a:solidFill>
                        <a:latin typeface="Century Gothic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800" b="0" i="0" u="none" strike="noStrike" baseline="0" noProof="0" dirty="0">
                          <a:solidFill>
                            <a:srgbClr val="FFFFFF"/>
                          </a:solidFill>
                          <a:latin typeface="Century Gothic"/>
                        </a:rPr>
                        <a:t>Automates monthly contract claim process for lecturers</a:t>
                      </a:r>
                      <a:endParaRPr lang="en-US" b="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800" b="0" i="0" u="none" strike="noStrike" baseline="0" noProof="0" dirty="0">
                          <a:solidFill>
                            <a:srgbClr val="FFFFFF"/>
                          </a:solidFill>
                          <a:latin typeface="Century Gothic"/>
                        </a:rPr>
                        <a:t>Streamlines approvals and payments across roles</a:t>
                      </a:r>
                      <a:endParaRPr lang="en-US" b="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800" b="0" i="0" u="none" strike="noStrike" baseline="0" noProof="0" dirty="0">
                          <a:solidFill>
                            <a:srgbClr val="FFFFFF"/>
                          </a:solidFill>
                          <a:latin typeface="Century Gothic"/>
                        </a:rPr>
                        <a:t>Improves accuracy, reduces manual work, enhances security</a:t>
                      </a:r>
                      <a:endParaRPr lang="en-US" b="0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sng" strike="noStrike" noProof="0" dirty="0">
                          <a:latin typeface="Century Gothic"/>
                        </a:rPr>
                        <a:t>Core Technologies:</a:t>
                      </a:r>
                      <a:endParaRPr lang="en-US" sz="2000" b="0" u="sng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 dirty="0">
                        <a:latin typeface="Century Gothic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ASP.NET Core MVC, C#</a:t>
                      </a:r>
                      <a:endParaRPr lang="en-US" b="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Entity Framework Core, SQL Server (</a:t>
                      </a:r>
                      <a:r>
                        <a:rPr lang="en-US" sz="1800" b="0" i="0" u="none" strike="noStrike" noProof="0" dirty="0" err="1">
                          <a:latin typeface="Century Gothic"/>
                        </a:rPr>
                        <a:t>LocalDB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)</a:t>
                      </a:r>
                      <a:endParaRPr lang="en-US" b="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Sessions for authentication</a:t>
                      </a:r>
                      <a:endParaRPr lang="en-US" b="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Bootstrap and Razor Views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130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85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8B89B-243A-9AB1-3D92-31725AF3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System Users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83228A-E414-4DAF-C1E1-46376E08A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3737527"/>
              </p:ext>
            </p:extLst>
          </p:nvPr>
        </p:nvGraphicFramePr>
        <p:xfrm>
          <a:off x="1103313" y="2052638"/>
          <a:ext cx="8947150" cy="241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3674645077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2609959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u="sng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u="sng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805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Lecturer </a:t>
                      </a:r>
                      <a:r>
                        <a:rPr lang="en-US" sz="1800" b="0" i="0" u="none" strike="noStrike" noProof="0" dirty="0"/>
                        <a:t>📄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bmit claims, upload documents, view claim history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847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Century Gothic"/>
                        </a:rPr>
                        <a:t>Programme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 Coordinator (PC) </a:t>
                      </a:r>
                      <a:r>
                        <a:rPr lang="en-US" sz="1800" b="0" i="0" u="none" strike="noStrike" noProof="0" dirty="0"/>
                        <a:t>✅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erify claims submitted by lecturers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129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Academic Manager (AM) 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✔️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Approve verified claims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39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HR </a:t>
                      </a:r>
                      <a:r>
                        <a:rPr lang="en-US" sz="1800" b="0" i="0" u="none" strike="noStrike" noProof="0" dirty="0"/>
                        <a:t>🛠️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Manage users, set hourly rates, generate 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994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4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80F3-36CB-7903-6CB9-BB3C72AFF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Lecturer Feedback &amp; Improvements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9FF4A5-698D-BA50-A212-54A63053F6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2050429"/>
              </p:ext>
            </p:extLst>
          </p:nvPr>
        </p:nvGraphicFramePr>
        <p:xfrm>
          <a:off x="1103313" y="1853346"/>
          <a:ext cx="8947150" cy="4798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1979874584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2517032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sng" strike="noStrike" noProof="0" dirty="0">
                          <a:latin typeface="Century Gothic"/>
                        </a:rPr>
                        <a:t>Feedback</a:t>
                      </a:r>
                      <a:endParaRPr lang="en-US" sz="2000" u="sn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u="sng" dirty="0"/>
                        <a:t>Action Taken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870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Lecturers should not define hourly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HR sets rates automatically 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✅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1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Files stored without validation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Added type &amp; size validation 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✅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975405"/>
                  </a:ext>
                </a:extLst>
              </a:tr>
              <a:tr h="92319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Generic error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Detailed user feedback using </a:t>
                      </a:r>
                      <a:r>
                        <a:rPr lang="en-US" dirty="0" err="1"/>
                        <a:t>TempData</a:t>
                      </a:r>
                      <a:r>
                        <a:rPr lang="en-US" dirty="0"/>
                        <a:t> 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✅ </a:t>
                      </a:r>
                      <a:endParaRPr lang="en-US" dirty="0" err="1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37237"/>
                  </a:ext>
                </a:extLst>
              </a:tr>
              <a:tr h="64476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Missing input validation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Added form validation &amp; unit tests 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✅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540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Managers could approve before verification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Workflow: Pending → Verified → Approved 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✅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41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Approved claims stayed in Pending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entury Gothic"/>
                        </a:rPr>
                        <a:t>Filtered views for Approved/Rejected claims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✅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499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39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5A44B-306F-5F6A-064C-B8A019203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>
                <a:ea typeface="+mj-lt"/>
                <a:cs typeface="+mj-lt"/>
              </a:rPr>
              <a:t>ystem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F0491-FADE-B49C-E63A-B5357517D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Controllers handle role-based logic (Lecturer, PC, AM, HR)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Models represent Users and Claims in DB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Views are Razor pages for interaction and display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Sessions manage login and access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Database (SQL Server + EF Core) stores persistent data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4" name="Picture 3" descr="MVC software architecture diagram">
            <a:extLst>
              <a:ext uri="{FF2B5EF4-FFF2-40B4-BE49-F238E27FC236}">
                <a16:creationId xmlns:a16="http://schemas.microsoft.com/office/drawing/2014/main" id="{632553DF-4546-66D9-2987-A2EEFEDB2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015" y="4320715"/>
            <a:ext cx="4630616" cy="23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1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8CB8-5F60-84B5-6C49-6319239A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Lecturer 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AD18C-335D-418F-DDAB-8E0AD19F7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676" y="1556464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Login restricted to Lecturers via session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Auto-calculation of total pay (Hours × Rate)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File upload with validation (PDF, DOCX, XLSX)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Claims stored in SQL Database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Claim history viewable only by lecturer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141D9D-C19D-0974-98A9-9755E45F2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45" y="3647442"/>
            <a:ext cx="10298546" cy="321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64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BD26-44AB-AEE5-30D5-437E53FF4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Programme</a:t>
            </a:r>
            <a:r>
              <a:rPr lang="en-US" dirty="0">
                <a:ea typeface="+mj-lt"/>
                <a:cs typeface="+mj-lt"/>
              </a:rPr>
              <a:t> Coordinator (PC) 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0CA23-7194-66DB-E1A1-0070D161C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View Pending Claims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Verify or Reject claims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Role-restricted access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Verified claims automatically move to Academic Manager view</a:t>
            </a:r>
            <a:endParaRPr lang="en-US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BF720E-CD8C-4805-00C2-79823C60A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4930"/>
            <a:ext cx="11914910" cy="206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75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EA7A-E4A3-535F-8BA5-197A4FF2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Academic Manager (AM) 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0BF9D-9275-0896-1D58-61ED6539B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Displays Verified Claims only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Approve or Reject claims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Approved claims move to “Approved Claims” list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Prevents duplicate actions on finalized claims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C1D8E2-E628-6B4C-177D-6C8F6E2C2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76485"/>
            <a:ext cx="12192000" cy="202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4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C989-AA4D-7DFA-BE90-22B2762E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HR Dashboard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D49F6-B7B2-461E-343D-78A83A5D6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857" y="1464100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Manage all user accounts (Lecturer, PC, AM, HR)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Set hourly rates during user creation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Update passwords and details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Generate reports for Approved Claims using LINQ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7" name="Picture 6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ECE694DF-5FE4-EB45-515F-070B5D1A1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152274"/>
            <a:ext cx="10402455" cy="370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059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7483-40E9-9FE2-87D7-7860853D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Claim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B840F-1731-68C8-C8FC-CC94D355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35" y="1513656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Lecturer submits claim → Pending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PC verifies → Verified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AM approves → Approved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HR includes in monthly report → Processed for payment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249E1DCD-E81A-74F2-7323-C4B088728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199" y="3190231"/>
            <a:ext cx="60579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95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0FC6-7E8A-DCF6-04D5-4A4C7BC4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Security and Validation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4E6E5-F9FD-9DEA-C58E-4122204B8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Session-based role control (restrict unauthorized access)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Page-level access checks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File validation: type, size, required upload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Data validation: Hours, Rates, Required Fields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Database constraints via EF Core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Code snippet for session check: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B0C2B5A-656F-F12A-D3E0-19204DD3B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27" y="5155223"/>
            <a:ext cx="62865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0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CE28-A59F-6AAD-8DBD-764D8BBDA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Database 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4399-1C5F-723A-B83D-D99193382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EF Core + SQL Server (</a:t>
            </a:r>
            <a:r>
              <a:rPr lang="en-US" dirty="0" err="1">
                <a:ea typeface="+mj-lt"/>
                <a:cs typeface="+mj-lt"/>
              </a:rPr>
              <a:t>LocalDB</a:t>
            </a:r>
            <a:r>
              <a:rPr lang="en-US" dirty="0">
                <a:ea typeface="+mj-lt"/>
                <a:cs typeface="+mj-lt"/>
              </a:rPr>
              <a:t>)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 dirty="0" err="1">
                <a:latin typeface="Consolas"/>
              </a:rPr>
              <a:t>ApplicationDbContext</a:t>
            </a:r>
            <a:r>
              <a:rPr lang="en-US" dirty="0">
                <a:ea typeface="+mj-lt"/>
                <a:cs typeface="+mj-lt"/>
              </a:rPr>
              <a:t> manages Users &amp; Claims tables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HR adds users → saved persistently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Claims linked to logged-in lecturer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CD673C-603B-4551-92F2-8C21C13FE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08" y="4020283"/>
            <a:ext cx="883920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246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F8707-F7C9-4CF4-AFFE-4F4DB06A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Challenges &amp; Solutions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F0B0DA-E0D1-1446-483A-0AB7EED27A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0607397"/>
              </p:ext>
            </p:extLst>
          </p:nvPr>
        </p:nvGraphicFramePr>
        <p:xfrm>
          <a:off x="1103313" y="2052638"/>
          <a:ext cx="894715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3533671304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462052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Challenge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Solution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39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Restricting unauthorized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Session-based role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29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Linking claims to logged-in lecturers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Use </a:t>
                      </a:r>
                      <a:r>
                        <a:rPr lang="en-US" dirty="0" err="1"/>
                        <a:t>Session.UserId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121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Handling invalid uploads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Server-side file validation &amp; error messages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487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Automating approval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entury Gothic"/>
                        </a:rPr>
                        <a:t>Separate logic for PC (verify) &amp; AM (approve)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60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318D-8A76-FE66-BCAE-BCC5363D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Technologies Used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39BCD3-8EAE-F8CA-626C-1CE8344CC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252157"/>
              </p:ext>
            </p:extLst>
          </p:nvPr>
        </p:nvGraphicFramePr>
        <p:xfrm>
          <a:off x="1103313" y="2052638"/>
          <a:ext cx="8947150" cy="3337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1069864565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2689451117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Technology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Reason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10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HTML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Represents webpage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092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CSS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Styles your frontend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9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Bootstrap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Frontend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537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Razor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Templating engine in ASP.NET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305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/>
                        <a:t>ASP.NET Core MVC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Backend framework for web apps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43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Programming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31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SQL Server + EF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Database storage &amp; 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66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Session-based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Security/authentication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23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538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8A7F-F72B-D803-8408-4ECACCB4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Video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D5357-301C-CA4B-CCF3-64D6A2EC3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YouTube Link: </a:t>
            </a: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Highlights: Role-based login, claim workflow, HR dashboard, report generation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77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C349-8478-98EE-FC2F-E9CE87FFC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2F30C-CC77-476A-3DF0-B4F4CF73C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Fully automated contract claim workflow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Role-based, secure access control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Enhanced validation and error handling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Centralized HR management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Realistic and scalable implementation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327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F587-EF90-9BDC-E36A-7DAE33F7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F932A-7533-7840-3878-516919304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54" y="2052918"/>
            <a:ext cx="10896363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 Imraan </a:t>
            </a:r>
            <a:r>
              <a:rPr lang="en-US" dirty="0" err="1">
                <a:ea typeface="+mj-lt"/>
                <a:cs typeface="+mj-lt"/>
              </a:rPr>
              <a:t>Nordien</a:t>
            </a: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Student No: ST10434419</a:t>
            </a:r>
          </a:p>
          <a:p>
            <a:pPr>
              <a:buClr>
                <a:srgbClr val="8AD0D6"/>
              </a:buClr>
            </a:pPr>
            <a:r>
              <a:rPr lang="en-US" dirty="0"/>
              <a:t>Student Email: ST10434419@vcconnect.edu.za</a:t>
            </a: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GitHub Repository Link:</a:t>
            </a:r>
            <a:endParaRPr lang="en-US" dirty="0"/>
          </a:p>
          <a:p>
            <a:pPr marL="0" indent="0">
              <a:buClr>
                <a:srgbClr val="8AD0D6"/>
              </a:buClr>
              <a:buNone/>
            </a:pPr>
            <a:r>
              <a:rPr lang="en-US" dirty="0">
                <a:ea typeface="+mj-lt"/>
                <a:cs typeface="+mj-lt"/>
              </a:rPr>
              <a:t>      https://github.com/ImraanNordien/St10434419_PROG62121_POE_Part3.       </a:t>
            </a: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YouTube Demo Link: https://youtu.be/xvriFYxKQWY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>
              <a:ea typeface="+mj-lt"/>
              <a:cs typeface="+mj-lt"/>
            </a:endParaRPr>
          </a:p>
          <a:p>
            <a:pPr marL="0" indent="0">
              <a:buNone/>
            </a:pPr>
            <a:r>
              <a:rPr lang="en-US" dirty="0">
                <a:ea typeface="+mj-lt"/>
                <a:cs typeface="+mj-lt"/>
              </a:rPr>
              <a:t>            </a:t>
            </a:r>
            <a:endParaRPr lang="en-US" dirty="0"/>
          </a:p>
          <a:p>
            <a:pPr marL="0" indent="0">
              <a:buClr>
                <a:srgbClr val="8AD0D6"/>
              </a:buClr>
              <a:buNone/>
            </a:pP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92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660</Words>
  <Application>Microsoft Office PowerPoint</Application>
  <PresentationFormat>Widescreen</PresentationFormat>
  <Paragraphs>136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Consolas</vt:lpstr>
      <vt:lpstr>Wingdings 3</vt:lpstr>
      <vt:lpstr>Ion</vt:lpstr>
      <vt:lpstr>Contract Monthly Claim System (Final POE – Part 3)</vt:lpstr>
      <vt:lpstr>Project Overview</vt:lpstr>
      <vt:lpstr>System Users</vt:lpstr>
      <vt:lpstr>Lecturer Feedback &amp; Improvements</vt:lpstr>
      <vt:lpstr>System Architecture</vt:lpstr>
      <vt:lpstr>Lecturer View</vt:lpstr>
      <vt:lpstr>Programme Coordinator (PC) View</vt:lpstr>
      <vt:lpstr>Academic Manager (AM) View</vt:lpstr>
      <vt:lpstr>HR Dashboard</vt:lpstr>
      <vt:lpstr>Claim Workflow</vt:lpstr>
      <vt:lpstr>Security and Validation</vt:lpstr>
      <vt:lpstr>Database Integration</vt:lpstr>
      <vt:lpstr>Challenges &amp; Solutions</vt:lpstr>
      <vt:lpstr>Technologies Used</vt:lpstr>
      <vt:lpstr>Demonstration Video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Imraan Nordien</cp:lastModifiedBy>
  <cp:revision>296</cp:revision>
  <dcterms:created xsi:type="dcterms:W3CDTF">2025-11-21T16:50:27Z</dcterms:created>
  <dcterms:modified xsi:type="dcterms:W3CDTF">2025-11-21T20:14:02Z</dcterms:modified>
</cp:coreProperties>
</file>